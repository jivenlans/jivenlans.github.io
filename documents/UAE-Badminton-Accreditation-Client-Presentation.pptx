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3FAF4-45AB-4A98-BF69-66E3171F6D62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D6D9A-F44D-4343-BF94-DCAEBC094A2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51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/>
              <a:t>Opening position: present the app as an operations system, not a registration website.</a:t>
            </a:r>
          </a:p>
          <a:p>
            <a:r>
              <a:rPr lang="en-PH"/>
              <a:t>[Sources]</a:t>
            </a:r>
          </a:p>
          <a:p>
            <a:r>
              <a:rPr lang="en-PH"/>
              <a:t>- Internal guide: docs/uae-client-presentation-guide.md</a:t>
            </a:r>
          </a:p>
          <a:p>
            <a:r>
              <a:rPr lang="en-PH"/>
              <a:t>- UI screenshot: D:\Jiven Files\Projects\BOMS Screenshots\Participant-Login.png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0861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frame the client problem before showing screens.</a:t>
            </a:r>
          </a:p>
          <a:p>
            <a:r>
              <a:rPr lang="en-US"/>
              <a:t>[Sources]</a:t>
            </a:r>
          </a:p>
          <a:p>
            <a:r>
              <a:rPr lang="en-US"/>
              <a:t>- Internal guide: docs/uae-client-presentation-guide.md</a:t>
            </a:r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2812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Recommended one-line pitch: the app centralizes registration, payment proof, admin approval, attendance, grading, feedback, certification readiness, and reporting.</a:t>
            </a:r>
          </a:p>
          <a:p>
            <a:r>
              <a:rPr lang="en-US"/>
              <a:t>[Sources]</a:t>
            </a:r>
          </a:p>
          <a:p>
            <a:r>
              <a:rPr lang="en-US"/>
              <a:t>- Internal guide: docs/uae-client-presentation-guide.md</a:t>
            </a:r>
          </a:p>
          <a:p>
            <a:r>
              <a:rPr lang="en-US"/>
              <a:t>- Feature list: README.md</a:t>
            </a:r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1454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/>
              <a:t>Position manual payment proof as a practical first release path while being clear about production storage.</a:t>
            </a:r>
          </a:p>
          <a:p>
            <a:r>
              <a:rPr lang="en-PH"/>
              <a:t>[Sources]</a:t>
            </a:r>
          </a:p>
          <a:p>
            <a:r>
              <a:rPr lang="en-PH"/>
              <a:t>- Internal guide: docs/uae-client-presentation-guide.md</a:t>
            </a:r>
          </a:p>
          <a:p>
            <a:r>
              <a:rPr lang="en-PH"/>
              <a:t>- Feature list: README.md</a:t>
            </a:r>
          </a:p>
          <a:p>
            <a:r>
              <a:rPr lang="en-PH"/>
              <a:t>- UI screenshot: D:\Jiven Files\Projects\BOMS Screenshots\Participant-Payment-Proof.png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9924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/>
              <a:t>Emphasize that this replaces spreadsheet reconciliation and gives admins a live operational queue.</a:t>
            </a:r>
          </a:p>
          <a:p>
            <a:r>
              <a:rPr lang="en-PH"/>
              <a:t>[Sources]</a:t>
            </a:r>
          </a:p>
          <a:p>
            <a:r>
              <a:rPr lang="en-PH"/>
              <a:t>- Internal guide: docs/uae-client-presentation-guide.md</a:t>
            </a:r>
          </a:p>
          <a:p>
            <a:r>
              <a:rPr lang="en-PH"/>
              <a:t>- Feature list: README.md</a:t>
            </a:r>
          </a:p>
          <a:p>
            <a:r>
              <a:rPr lang="en-PH"/>
              <a:t>- UI screenshot: D:\Jiven Files\Projects\BOMS Screenshots\Instructor-Dashboard.png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361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show the operational value on course day: faster check-in and immediate reporting data.</a:t>
            </a:r>
          </a:p>
          <a:p>
            <a:r>
              <a:rPr lang="en-US"/>
              <a:t>[Sources]</a:t>
            </a:r>
          </a:p>
          <a:p>
            <a:r>
              <a:rPr lang="en-US"/>
              <a:t>- Internal guide: docs/uae-client-presentation-guide.md</a:t>
            </a:r>
          </a:p>
          <a:p>
            <a:r>
              <a:rPr lang="en-US"/>
              <a:t>- Feature list: README.md</a:t>
            </a:r>
          </a:p>
          <a:p>
            <a:r>
              <a:rPr lang="en-US"/>
              <a:t>- UI screenshot: D:\Jiven Files\Projects\BOMS Screenshots\Instructor-Attendance.png</a:t>
            </a:r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00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/>
              <a:t>Keep this focused on standardization and trust in accreditation decisions, not technical implementation.</a:t>
            </a:r>
          </a:p>
          <a:p>
            <a:r>
              <a:rPr lang="en-PH"/>
              <a:t>[Sources]</a:t>
            </a:r>
          </a:p>
          <a:p>
            <a:r>
              <a:rPr lang="en-PH"/>
              <a:t>- Internal guide: docs/uae-client-presentation-guide.md</a:t>
            </a:r>
          </a:p>
          <a:p>
            <a:r>
              <a:rPr lang="en-PH"/>
              <a:t>- Feature list: README.md</a:t>
            </a:r>
          </a:p>
          <a:p>
            <a:r>
              <a:rPr lang="en-PH"/>
              <a:t>- UI screenshot: D:\Jiven Files\Projects\BOMS Screenshots\Instructor-Grading.png</a:t>
            </a:r>
          </a:p>
          <a:p>
            <a:r>
              <a:rPr lang="en-PH"/>
              <a:t>- UI screenshot: D:\Jiven Files\Projects\BOMS Screenshots\Participant-Certification.png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152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show that the system improves the participant journey, not only the admin workflow.</a:t>
            </a:r>
          </a:p>
          <a:p>
            <a:r>
              <a:rPr lang="en-US"/>
              <a:t>[Sources]</a:t>
            </a:r>
          </a:p>
          <a:p>
            <a:r>
              <a:rPr lang="en-US"/>
              <a:t>- Internal guide: docs/uae-client-presentation-guide.md</a:t>
            </a:r>
          </a:p>
          <a:p>
            <a:r>
              <a:rPr lang="en-US"/>
              <a:t>- Feature list: README.md</a:t>
            </a:r>
          </a:p>
          <a:p>
            <a:r>
              <a:rPr lang="en-US"/>
              <a:t>- UI screenshot: D:\Jiven Files\Projects\BOMS Screenshots\Participant-Dashboard.png</a:t>
            </a:r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355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/>
              <a:t>Tie reporting back to management visibility, reduced manual errors, and batch/course comparison.</a:t>
            </a:r>
          </a:p>
          <a:p>
            <a:r>
              <a:rPr lang="en-PH"/>
              <a:t>[Sources]</a:t>
            </a:r>
          </a:p>
          <a:p>
            <a:r>
              <a:rPr lang="en-PH"/>
              <a:t>- Internal guide: docs/uae-client-presentation-guide.md</a:t>
            </a:r>
          </a:p>
          <a:p>
            <a:r>
              <a:rPr lang="en-PH"/>
              <a:t>- Feature list: README.md</a:t>
            </a:r>
          </a:p>
          <a:p>
            <a:r>
              <a:rPr lang="en-PH"/>
              <a:t>- UI screenshot: D:\Jiven Files\Projects\BOMS Screenshots\Instructor-Reporting.png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8016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Lead with Production Association System unless the client clearly prefers a smaller controlled pilot.</a:t>
            </a:r>
          </a:p>
          <a:p>
            <a:r>
              <a:rPr lang="en-US"/>
              <a:t>[Sources]</a:t>
            </a:r>
          </a:p>
          <a:p>
            <a:r>
              <a:rPr lang="en-US"/>
              <a:t>- Internal guide pricing and rollout guidance: docs/uae-client-presentation-guide.md</a:t>
            </a:r>
          </a:p>
          <a:p>
            <a:r>
              <a:rPr lang="en-US"/>
              <a:t>- AED conversion assumptions from the internal guide pricing tables.</a:t>
            </a:r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6D9A-F44D-4343-BF94-DCAEBC094A2A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107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06BC-2390-937A-926C-070D62EDC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4809-159B-1662-916D-2AB6A2CBB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B2FD8-1175-F44C-01F3-32AB3BAE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4CDB7-BD07-B1CE-FCE9-7E2D6899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88651-5F6C-355D-9E71-6C8E9441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791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CA7B-A22B-2430-8222-126C5189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9D839-C0F1-6654-C7E3-E4A904C7F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8DB8-E150-8A20-F57A-03489E86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879CA-B6D6-826D-CE6C-A6348770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42839-A1E3-CEA3-641B-FD55EE34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167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E2BC-0FAA-FED7-11CB-5FB08589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9135B-125A-7215-AC5C-A2B0769D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6EC69-DE38-DFCC-FD1D-E860F6BF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6B23-202C-DC23-9800-DFF5AEB3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A4B7-EBCE-384C-0E64-42DF9652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165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4332-F703-28A3-A7EB-D9BE18CE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1B3B3-872F-2C7C-AB86-F66494E3D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805B5-DDCA-D6B8-80C5-60F9A0779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A59B7-FC4E-7261-C883-50607369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7BD5F-B344-8E51-2F90-78FE92183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546DA-6A9E-A943-FF9E-665A8BAA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36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9023-897A-3FD4-B7EF-F630C9C4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6798-AD81-51FA-3D1C-3DCA72983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86A8-528E-827E-B7D1-AC568B6C7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15BD5-CA27-1112-F406-B3999F18F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CE334-A225-7B96-47A2-5F657495A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9D820-7105-4A52-123C-6D2FB1BB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076DC-9DFC-920C-096C-5ADDC2A5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7FF23-0082-66CE-A600-E1435DB6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032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9A4F-712C-FA5C-907A-ECD09118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B989E0-39F6-EAEB-6E2D-53545949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FC6F6-7065-9EC9-20DA-F7B94F22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7FC96-7B0A-950F-89F1-463A0458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042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CCB55-E608-8195-1464-65B665A3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24AC4-4187-4FE0-AEE1-49916774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A22B6-709A-38C6-3C3B-9DA91325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34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299B-2EF9-79AB-B74E-4B26157D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755E3-3D19-B3DA-27DE-368E771AB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C6340-0D48-29A0-3294-C042448B6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93696-322A-630E-E638-3461F2CB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07141-5336-5FE7-C379-D5E8719D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24B50-730C-5A0D-06E6-1D99F47F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828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1EB6-45B6-E8B1-9338-338BEAC0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B7E53-1534-944D-2CA5-3A0E38CB4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503CC-B0A8-F0B8-4AE1-E0640BB52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F1016-138F-48CA-C69E-2D134496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D0CD1-F878-EECB-B13F-8C2FCAEA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174CB-BF8C-0900-0BBF-F2E4AB42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54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29E4-FD52-8B65-CA1E-37881554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759E5-20BA-2BE5-3AE8-47EA2B02E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48EBD-D692-9E2A-0B66-FDB87C1C3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C27EB-504C-7FA0-A21D-C9786420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6DC58-BD63-083A-B7A6-F8B92F6D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593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4CB1D-5980-35DE-1CAB-A7FF5BE21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8DC5A-9D5B-1307-1C9E-91CB47B6A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8F5DA-B47D-9468-26DF-8CA8867F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723C8-798E-D75B-7490-76FA618C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32F83-1AC8-5D53-900F-762267A0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003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F2CF7-AB47-075D-F93B-CBCC4D1C1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3ED71-93F3-FFD6-C98D-AFF64E51A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5873-07AD-7916-E7E8-7A7D0160B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45444-79D9-4C4B-B29B-905A61F4C28B}" type="datetimeFigureOut">
              <a:rPr lang="en-PH" smtClean="0"/>
              <a:t>31/08/2026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7E485-3AB1-5961-BC9E-7C45C7F4A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CB330-C7AA-B3C3-67B1-DAE62B1A6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E4B20-9D98-448E-BB87-B80DC2AB423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997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4C3B13-7051-428B-DA12-85ECF627D398}"/>
              </a:ext>
            </a:extLst>
          </p:cNvPr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AA14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345556-22F1-684A-C6C5-18C674C864B8}"/>
              </a:ext>
            </a:extLst>
          </p:cNvPr>
          <p:cNvSpPr/>
          <p:nvPr/>
        </p:nvSpPr>
        <p:spPr>
          <a:xfrm>
            <a:off x="609600" y="781050"/>
            <a:ext cx="514350" cy="514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F4CA7A-63F4-6BD2-48BB-0FD59E57307C}"/>
              </a:ext>
            </a:extLst>
          </p:cNvPr>
          <p:cNvSpPr/>
          <p:nvPr/>
        </p:nvSpPr>
        <p:spPr>
          <a:xfrm>
            <a:off x="742950" y="914400"/>
            <a:ext cx="247650" cy="2476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67314-1773-7AC1-0ADE-D38335EC9C40}"/>
              </a:ext>
            </a:extLst>
          </p:cNvPr>
          <p:cNvSpPr txBox="1"/>
          <p:nvPr/>
        </p:nvSpPr>
        <p:spPr>
          <a:xfrm>
            <a:off x="1257300" y="819150"/>
            <a:ext cx="285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FFFFFF"/>
                </a:solidFill>
                <a:latin typeface="Aptos" panose="020B0004020202020204" pitchFamily="34" charset="0"/>
              </a:rPr>
              <a:t>Badminton Athlete</a:t>
            </a:r>
          </a:p>
          <a:p>
            <a:r>
              <a:rPr lang="en-PH" sz="2000" b="1">
                <a:solidFill>
                  <a:srgbClr val="FFFFFF"/>
                </a:solidFill>
                <a:latin typeface="Aptos" panose="020B0004020202020204" pitchFamily="34" charset="0"/>
              </a:rPr>
              <a:t>Accreditation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F7CA0-7F55-9432-FC89-44379994841B}"/>
              </a:ext>
            </a:extLst>
          </p:cNvPr>
          <p:cNvSpPr txBox="1"/>
          <p:nvPr/>
        </p:nvSpPr>
        <p:spPr>
          <a:xfrm>
            <a:off x="609600" y="2000250"/>
            <a:ext cx="4286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5000" b="1">
                <a:solidFill>
                  <a:srgbClr val="FFFFFF"/>
                </a:solidFill>
                <a:latin typeface="Aptos Display" panose="020B0004020202020204" pitchFamily="34" charset="0"/>
              </a:rPr>
              <a:t>Accreditation</a:t>
            </a:r>
          </a:p>
          <a:p>
            <a:r>
              <a:rPr lang="en-PH" sz="5000" b="1">
                <a:solidFill>
                  <a:srgbClr val="FFFFFF"/>
                </a:solidFill>
                <a:latin typeface="Aptos Display" panose="020B0004020202020204" pitchFamily="34" charset="0"/>
              </a:rPr>
              <a:t>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7FFAC-C147-E78C-2168-A1A396F40BFA}"/>
              </a:ext>
            </a:extLst>
          </p:cNvPr>
          <p:cNvSpPr txBox="1"/>
          <p:nvPr/>
        </p:nvSpPr>
        <p:spPr>
          <a:xfrm>
            <a:off x="609600" y="3714750"/>
            <a:ext cx="3952875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FFE4E6"/>
                </a:solidFill>
                <a:latin typeface="Aptos" panose="020B0004020202020204" pitchFamily="34" charset="0"/>
              </a:rPr>
              <a:t>Centralized registration, payment proof, attendance, grading, feedback, certification readiness, and reporting.</a:t>
            </a:r>
            <a:endParaRPr lang="en-PH" sz="2000">
              <a:solidFill>
                <a:srgbClr val="FFE4E6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C7157-E04C-44B3-3740-15576CE45672}"/>
              </a:ext>
            </a:extLst>
          </p:cNvPr>
          <p:cNvSpPr txBox="1"/>
          <p:nvPr/>
        </p:nvSpPr>
        <p:spPr>
          <a:xfrm>
            <a:off x="609600" y="5867400"/>
            <a:ext cx="400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Prepared for UAE client discussion</a:t>
            </a:r>
            <a:endParaRPr lang="en-PH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5AB17-1E77-BF41-DB66-86534D4A7835}"/>
              </a:ext>
            </a:extLst>
          </p:cNvPr>
          <p:cNvSpPr txBox="1"/>
          <p:nvPr/>
        </p:nvSpPr>
        <p:spPr>
          <a:xfrm>
            <a:off x="609600" y="615315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FFD6DC"/>
                </a:solidFill>
                <a:latin typeface="Aptos" panose="020B0004020202020204" pitchFamily="34" charset="0"/>
              </a:rPr>
              <a:t>2026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DC6A51-6475-9C57-A70B-8311B6D88A9A}"/>
              </a:ext>
            </a:extLst>
          </p:cNvPr>
          <p:cNvSpPr/>
          <p:nvPr/>
        </p:nvSpPr>
        <p:spPr>
          <a:xfrm>
            <a:off x="5438775" y="1066800"/>
            <a:ext cx="5410200" cy="26098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EF9313-7209-AB13-BA88-6BE0F5DE46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5" y="1104900"/>
            <a:ext cx="5334000" cy="253365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D72515-85C7-5C22-0310-E9317D459FDA}"/>
              </a:ext>
            </a:extLst>
          </p:cNvPr>
          <p:cNvSpPr/>
          <p:nvPr/>
        </p:nvSpPr>
        <p:spPr>
          <a:xfrm>
            <a:off x="5438775" y="4057650"/>
            <a:ext cx="5372100" cy="105384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E2FD5-64A0-83FC-A028-0E02C01C4B83}"/>
              </a:ext>
            </a:extLst>
          </p:cNvPr>
          <p:cNvSpPr txBox="1"/>
          <p:nvPr/>
        </p:nvSpPr>
        <p:spPr>
          <a:xfrm>
            <a:off x="5772150" y="4257675"/>
            <a:ext cx="476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20242C"/>
                </a:solidFill>
                <a:latin typeface="Aptos" panose="020B0004020202020204" pitchFamily="34" charset="0"/>
              </a:rPr>
              <a:t>Working foundation ready to configure around the client's courses, roles, reports, branding, security, and rollout process.</a:t>
            </a:r>
            <a:endParaRPr lang="en-PH" sz="1600" b="1" dirty="0">
              <a:solidFill>
                <a:srgbClr val="20242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63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6AC8CF-5614-8DAF-5698-DC780F93CF4A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AF138-274E-B970-077E-D7F6F214FDD3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CURRENT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B14B8-1409-FA1E-F991-A85C9217065F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Scattered Data Makes Accreditation Hard To Control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C7288-43B8-7BDD-D7AB-54AAEEBFD44F}"/>
              </a:ext>
            </a:extLst>
          </p:cNvPr>
          <p:cNvSpPr txBox="1"/>
          <p:nvPr/>
        </p:nvSpPr>
        <p:spPr>
          <a:xfrm>
            <a:off x="838200" y="1352550"/>
            <a:ext cx="9048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667085"/>
                </a:solidFill>
                <a:latin typeface="Aptos" panose="020B0004020202020204" pitchFamily="34" charset="0"/>
              </a:rPr>
              <a:t>When registration, receipts, attendance, grading, feedback, and reports live in separate tools, the team loses a reliable operational picture.</a:t>
            </a:r>
            <a:endParaRPr lang="en-PH" sz="22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14BE96-BFDA-B6CF-B1CE-82A8721ADAAD}"/>
              </a:ext>
            </a:extLst>
          </p:cNvPr>
          <p:cNvSpPr/>
          <p:nvPr/>
        </p:nvSpPr>
        <p:spPr>
          <a:xfrm>
            <a:off x="857250" y="2266950"/>
            <a:ext cx="7010400" cy="60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8D415-37AF-BFC3-4F0A-862C3C30CF4F}"/>
              </a:ext>
            </a:extLst>
          </p:cNvPr>
          <p:cNvSpPr/>
          <p:nvPr/>
        </p:nvSpPr>
        <p:spPr>
          <a:xfrm>
            <a:off x="857250" y="2266950"/>
            <a:ext cx="66675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BD0AC-03E6-8515-F683-DF922E6BDDDD}"/>
              </a:ext>
            </a:extLst>
          </p:cNvPr>
          <p:cNvSpPr txBox="1"/>
          <p:nvPr/>
        </p:nvSpPr>
        <p:spPr>
          <a:xfrm>
            <a:off x="1104900" y="2381250"/>
            <a:ext cx="2381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>
                <a:solidFill>
                  <a:srgbClr val="20242C"/>
                </a:solidFill>
                <a:latin typeface="Aptos" panose="020B0004020202020204" pitchFamily="34" charset="0"/>
              </a:rPr>
              <a:t>Participant intake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E70AB-B366-7548-573B-CF68D1A301B2}"/>
              </a:ext>
            </a:extLst>
          </p:cNvPr>
          <p:cNvSpPr txBox="1"/>
          <p:nvPr/>
        </p:nvSpPr>
        <p:spPr>
          <a:xfrm>
            <a:off x="3583686" y="2330196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667085"/>
                </a:solidFill>
                <a:latin typeface="Aptos" panose="020B0004020202020204" pitchFamily="34" charset="0"/>
              </a:rPr>
              <a:t>Forms and messages create inconsistent records.</a:t>
            </a:r>
            <a:endParaRPr lang="en-PH" sz="1600" dirty="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E89638-D834-72C1-0C71-6FE5CEDF242B}"/>
              </a:ext>
            </a:extLst>
          </p:cNvPr>
          <p:cNvSpPr/>
          <p:nvPr/>
        </p:nvSpPr>
        <p:spPr>
          <a:xfrm>
            <a:off x="857250" y="3105150"/>
            <a:ext cx="7010400" cy="60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BF067-B1AF-8FD5-AA41-070B635150A3}"/>
              </a:ext>
            </a:extLst>
          </p:cNvPr>
          <p:cNvSpPr/>
          <p:nvPr/>
        </p:nvSpPr>
        <p:spPr>
          <a:xfrm>
            <a:off x="857250" y="3105150"/>
            <a:ext cx="66675" cy="609600"/>
          </a:xfrm>
          <a:prstGeom prst="rect">
            <a:avLst/>
          </a:prstGeom>
          <a:solidFill>
            <a:srgbClr val="C884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982ED-C467-C630-C6DA-70D064C642E6}"/>
              </a:ext>
            </a:extLst>
          </p:cNvPr>
          <p:cNvSpPr txBox="1"/>
          <p:nvPr/>
        </p:nvSpPr>
        <p:spPr>
          <a:xfrm>
            <a:off x="1104900" y="3219450"/>
            <a:ext cx="2381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 dirty="0">
                <a:solidFill>
                  <a:srgbClr val="20242C"/>
                </a:solidFill>
                <a:latin typeface="Aptos" panose="020B0004020202020204" pitchFamily="34" charset="0"/>
              </a:rPr>
              <a:t>Payment proof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263B1-722F-BB28-2E5F-B1F94D6BF8E9}"/>
              </a:ext>
            </a:extLst>
          </p:cNvPr>
          <p:cNvSpPr txBox="1"/>
          <p:nvPr/>
        </p:nvSpPr>
        <p:spPr>
          <a:xfrm>
            <a:off x="3619500" y="3200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667085"/>
                </a:solidFill>
                <a:latin typeface="Aptos" panose="020B0004020202020204" pitchFamily="34" charset="0"/>
              </a:rPr>
              <a:t>Receipts are difficult to match against registration status.</a:t>
            </a:r>
            <a:endParaRPr lang="en-PH" sz="1600" dirty="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D31E6B-4752-33CA-7573-408C4F4BE6B0}"/>
              </a:ext>
            </a:extLst>
          </p:cNvPr>
          <p:cNvSpPr/>
          <p:nvPr/>
        </p:nvSpPr>
        <p:spPr>
          <a:xfrm>
            <a:off x="857250" y="3943350"/>
            <a:ext cx="7010400" cy="60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88B8D2-E74F-9275-AC16-DC3CF1D5537E}"/>
              </a:ext>
            </a:extLst>
          </p:cNvPr>
          <p:cNvSpPr/>
          <p:nvPr/>
        </p:nvSpPr>
        <p:spPr>
          <a:xfrm>
            <a:off x="857250" y="3943350"/>
            <a:ext cx="66675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3C3FDB-943C-1F21-CDF6-D8C2A4606A24}"/>
              </a:ext>
            </a:extLst>
          </p:cNvPr>
          <p:cNvSpPr txBox="1"/>
          <p:nvPr/>
        </p:nvSpPr>
        <p:spPr>
          <a:xfrm>
            <a:off x="1104900" y="4057650"/>
            <a:ext cx="2381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 dirty="0">
                <a:solidFill>
                  <a:srgbClr val="20242C"/>
                </a:solidFill>
                <a:latin typeface="Aptos" panose="020B0004020202020204" pitchFamily="34" charset="0"/>
              </a:rPr>
              <a:t>Course day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A94B6A-511B-729B-FD72-017E67B6A417}"/>
              </a:ext>
            </a:extLst>
          </p:cNvPr>
          <p:cNvSpPr txBox="1"/>
          <p:nvPr/>
        </p:nvSpPr>
        <p:spPr>
          <a:xfrm>
            <a:off x="3619500" y="4020669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667085"/>
                </a:solidFill>
                <a:latin typeface="Aptos" panose="020B0004020202020204" pitchFamily="34" charset="0"/>
              </a:rPr>
              <a:t>Attendance and walk-ins create extra reconciliation work.</a:t>
            </a:r>
            <a:endParaRPr lang="en-PH" sz="1600" dirty="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8F110F-B7BC-51D5-4DC9-43C980B4CD7A}"/>
              </a:ext>
            </a:extLst>
          </p:cNvPr>
          <p:cNvSpPr/>
          <p:nvPr/>
        </p:nvSpPr>
        <p:spPr>
          <a:xfrm>
            <a:off x="857250" y="4781550"/>
            <a:ext cx="7010400" cy="60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6EE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FEC26-DF19-FB80-3079-3635832790A0}"/>
              </a:ext>
            </a:extLst>
          </p:cNvPr>
          <p:cNvSpPr/>
          <p:nvPr/>
        </p:nvSpPr>
        <p:spPr>
          <a:xfrm>
            <a:off x="857250" y="4781550"/>
            <a:ext cx="66675" cy="609600"/>
          </a:xfrm>
          <a:prstGeom prst="rect">
            <a:avLst/>
          </a:prstGeom>
          <a:solidFill>
            <a:srgbClr val="C884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E672A4-D855-39EC-31E6-6847740CF8FB}"/>
              </a:ext>
            </a:extLst>
          </p:cNvPr>
          <p:cNvSpPr txBox="1"/>
          <p:nvPr/>
        </p:nvSpPr>
        <p:spPr>
          <a:xfrm>
            <a:off x="1104900" y="4895850"/>
            <a:ext cx="2381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>
                <a:solidFill>
                  <a:srgbClr val="20242C"/>
                </a:solidFill>
                <a:latin typeface="Aptos" panose="020B0004020202020204" pitchFamily="34" charset="0"/>
              </a:rPr>
              <a:t>Evaluation reports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8F740-2BB0-B759-3DE4-3D09DFB6972B}"/>
              </a:ext>
            </a:extLst>
          </p:cNvPr>
          <p:cNvSpPr txBox="1"/>
          <p:nvPr/>
        </p:nvSpPr>
        <p:spPr>
          <a:xfrm>
            <a:off x="3619500" y="4844796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667085"/>
                </a:solidFill>
                <a:latin typeface="Aptos" panose="020B0004020202020204" pitchFamily="34" charset="0"/>
              </a:rPr>
              <a:t>Instructor grading, feedback, and summaries are rebuilt later.</a:t>
            </a:r>
            <a:endParaRPr lang="en-PH" sz="1600" dirty="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C39CF8-4864-E254-8211-D5B61C5E4D4A}"/>
              </a:ext>
            </a:extLst>
          </p:cNvPr>
          <p:cNvSpPr/>
          <p:nvPr/>
        </p:nvSpPr>
        <p:spPr>
          <a:xfrm>
            <a:off x="8515350" y="2266950"/>
            <a:ext cx="2857500" cy="3124200"/>
          </a:xfrm>
          <a:prstGeom prst="round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BE9B4F-73EB-57E1-A8A5-C21217B91951}"/>
              </a:ext>
            </a:extLst>
          </p:cNvPr>
          <p:cNvSpPr txBox="1"/>
          <p:nvPr/>
        </p:nvSpPr>
        <p:spPr>
          <a:xfrm>
            <a:off x="8858250" y="2895600"/>
            <a:ext cx="2190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Operational</a:t>
            </a:r>
          </a:p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control</a:t>
            </a:r>
          </a:p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not just</a:t>
            </a:r>
          </a:p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registration</a:t>
            </a:r>
            <a:endParaRPr lang="en-PH" sz="3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AEBAAC-E0DD-7D23-CB3C-FB483CE955B1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911D5A-06A2-E7DD-CD02-F2D79BDC6E08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D3375-ACD1-D0AD-557C-17F090641430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566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AF6E7D-F6A6-F121-9C97-E95056E94D4F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86042-B110-D4AF-9C45-698F1EF57418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TARGET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4B91F-76FE-EF2C-CEAC-96811D9951FF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One Workflow Links Every Step Of The Journey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E35CC-A181-C994-92C2-0D9F61CDA061}"/>
              </a:ext>
            </a:extLst>
          </p:cNvPr>
          <p:cNvSpPr txBox="1"/>
          <p:nvPr/>
        </p:nvSpPr>
        <p:spPr>
          <a:xfrm>
            <a:off x="838200" y="1314450"/>
            <a:ext cx="895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667085"/>
                </a:solidFill>
                <a:latin typeface="Aptos" panose="020B0004020202020204" pitchFamily="34" charset="0"/>
              </a:rPr>
              <a:t>The application centralizes the complete accreditation path from first registration through management reporting.</a:t>
            </a:r>
            <a:endParaRPr lang="en-PH" sz="22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52740E-3304-897D-E057-D581E05D6C72}"/>
              </a:ext>
            </a:extLst>
          </p:cNvPr>
          <p:cNvSpPr/>
          <p:nvPr/>
        </p:nvSpPr>
        <p:spPr>
          <a:xfrm>
            <a:off x="6096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C0DDA8-8B00-3B93-19D6-54D212A294B0}"/>
              </a:ext>
            </a:extLst>
          </p:cNvPr>
          <p:cNvSpPr/>
          <p:nvPr/>
        </p:nvSpPr>
        <p:spPr>
          <a:xfrm>
            <a:off x="1028700" y="2647950"/>
            <a:ext cx="323850" cy="3238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DEE62-B1C0-2596-626A-20DA07F0109D}"/>
              </a:ext>
            </a:extLst>
          </p:cNvPr>
          <p:cNvSpPr txBox="1"/>
          <p:nvPr/>
        </p:nvSpPr>
        <p:spPr>
          <a:xfrm>
            <a:off x="10287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7C2F8-345B-9C87-4CBA-7DB09A408F0A}"/>
              </a:ext>
            </a:extLst>
          </p:cNvPr>
          <p:cNvSpPr txBox="1"/>
          <p:nvPr/>
        </p:nvSpPr>
        <p:spPr>
          <a:xfrm>
            <a:off x="6858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5B017-0EA5-31F8-AEF7-1746A4DC5082}"/>
              </a:ext>
            </a:extLst>
          </p:cNvPr>
          <p:cNvSpPr txBox="1"/>
          <p:nvPr/>
        </p:nvSpPr>
        <p:spPr>
          <a:xfrm>
            <a:off x="18097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EED51D-98E8-9ED5-EC7C-8992E2FFD739}"/>
              </a:ext>
            </a:extLst>
          </p:cNvPr>
          <p:cNvSpPr/>
          <p:nvPr/>
        </p:nvSpPr>
        <p:spPr>
          <a:xfrm>
            <a:off x="19812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107227-72D3-9F75-1FBC-332F0CA163A5}"/>
              </a:ext>
            </a:extLst>
          </p:cNvPr>
          <p:cNvSpPr/>
          <p:nvPr/>
        </p:nvSpPr>
        <p:spPr>
          <a:xfrm>
            <a:off x="2400300" y="2647950"/>
            <a:ext cx="323850" cy="323850"/>
          </a:xfrm>
          <a:prstGeom prst="ellipse">
            <a:avLst/>
          </a:prstGeom>
          <a:solidFill>
            <a:srgbClr val="C884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8B0F3F-3ADB-677A-5DCA-A395E3AD1CEA}"/>
              </a:ext>
            </a:extLst>
          </p:cNvPr>
          <p:cNvSpPr txBox="1"/>
          <p:nvPr/>
        </p:nvSpPr>
        <p:spPr>
          <a:xfrm>
            <a:off x="24003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A2E78-2870-8376-921C-5A62B74F5586}"/>
              </a:ext>
            </a:extLst>
          </p:cNvPr>
          <p:cNvSpPr txBox="1"/>
          <p:nvPr/>
        </p:nvSpPr>
        <p:spPr>
          <a:xfrm>
            <a:off x="20574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Pay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60338-B23C-655A-9048-E8E09589D3F7}"/>
              </a:ext>
            </a:extLst>
          </p:cNvPr>
          <p:cNvSpPr txBox="1"/>
          <p:nvPr/>
        </p:nvSpPr>
        <p:spPr>
          <a:xfrm>
            <a:off x="31813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37C139-BF81-3C80-E37C-BDC6E9710025}"/>
              </a:ext>
            </a:extLst>
          </p:cNvPr>
          <p:cNvSpPr/>
          <p:nvPr/>
        </p:nvSpPr>
        <p:spPr>
          <a:xfrm>
            <a:off x="33528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31C9FC-AE8C-71D6-1720-88488E771677}"/>
              </a:ext>
            </a:extLst>
          </p:cNvPr>
          <p:cNvSpPr/>
          <p:nvPr/>
        </p:nvSpPr>
        <p:spPr>
          <a:xfrm>
            <a:off x="3771900" y="2647950"/>
            <a:ext cx="323850" cy="3238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C5A11-7775-A996-3EF8-F1F2077F09C8}"/>
              </a:ext>
            </a:extLst>
          </p:cNvPr>
          <p:cNvSpPr txBox="1"/>
          <p:nvPr/>
        </p:nvSpPr>
        <p:spPr>
          <a:xfrm>
            <a:off x="37719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7D183-8D2E-3319-7AAB-59BD12A4318D}"/>
              </a:ext>
            </a:extLst>
          </p:cNvPr>
          <p:cNvSpPr txBox="1"/>
          <p:nvPr/>
        </p:nvSpPr>
        <p:spPr>
          <a:xfrm>
            <a:off x="34290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Approve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02F055-D1EE-0723-EACF-E564F12A3ED3}"/>
              </a:ext>
            </a:extLst>
          </p:cNvPr>
          <p:cNvSpPr txBox="1"/>
          <p:nvPr/>
        </p:nvSpPr>
        <p:spPr>
          <a:xfrm>
            <a:off x="45529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9CB7CC-1CD6-3FF5-24EF-06B3C492220A}"/>
              </a:ext>
            </a:extLst>
          </p:cNvPr>
          <p:cNvSpPr/>
          <p:nvPr/>
        </p:nvSpPr>
        <p:spPr>
          <a:xfrm>
            <a:off x="47244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7E40F20-37AB-0E98-2BEB-549FBA5521E7}"/>
              </a:ext>
            </a:extLst>
          </p:cNvPr>
          <p:cNvSpPr/>
          <p:nvPr/>
        </p:nvSpPr>
        <p:spPr>
          <a:xfrm>
            <a:off x="5143500" y="2647950"/>
            <a:ext cx="323850" cy="323850"/>
          </a:xfrm>
          <a:prstGeom prst="ellipse">
            <a:avLst/>
          </a:prstGeom>
          <a:solidFill>
            <a:srgbClr val="C884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3C24A-0A20-D776-93EE-F722C72E92AE}"/>
              </a:ext>
            </a:extLst>
          </p:cNvPr>
          <p:cNvSpPr txBox="1"/>
          <p:nvPr/>
        </p:nvSpPr>
        <p:spPr>
          <a:xfrm>
            <a:off x="51435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92A85-A547-0438-05CB-EF95A29CEFD2}"/>
              </a:ext>
            </a:extLst>
          </p:cNvPr>
          <p:cNvSpPr txBox="1"/>
          <p:nvPr/>
        </p:nvSpPr>
        <p:spPr>
          <a:xfrm>
            <a:off x="48006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Attend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BDDD7E-BD17-0487-6A79-2B1122CDEBF5}"/>
              </a:ext>
            </a:extLst>
          </p:cNvPr>
          <p:cNvSpPr txBox="1"/>
          <p:nvPr/>
        </p:nvSpPr>
        <p:spPr>
          <a:xfrm>
            <a:off x="59245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F86FE9-2283-A2B7-878F-4BD8CAFF9827}"/>
              </a:ext>
            </a:extLst>
          </p:cNvPr>
          <p:cNvSpPr/>
          <p:nvPr/>
        </p:nvSpPr>
        <p:spPr>
          <a:xfrm>
            <a:off x="60960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B30F60F-CF27-A6B0-4EA3-3DE478A17B79}"/>
              </a:ext>
            </a:extLst>
          </p:cNvPr>
          <p:cNvSpPr/>
          <p:nvPr/>
        </p:nvSpPr>
        <p:spPr>
          <a:xfrm>
            <a:off x="6515100" y="2647950"/>
            <a:ext cx="323850" cy="3238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0540FF-43C6-0596-D863-64FBE957D3F0}"/>
              </a:ext>
            </a:extLst>
          </p:cNvPr>
          <p:cNvSpPr txBox="1"/>
          <p:nvPr/>
        </p:nvSpPr>
        <p:spPr>
          <a:xfrm>
            <a:off x="65151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E8C500-1E2B-5119-000E-1B7F465736FB}"/>
              </a:ext>
            </a:extLst>
          </p:cNvPr>
          <p:cNvSpPr txBox="1"/>
          <p:nvPr/>
        </p:nvSpPr>
        <p:spPr>
          <a:xfrm>
            <a:off x="61722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Grade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DC8BF8-26C9-A6DF-10B3-1DB5C7101F7A}"/>
              </a:ext>
            </a:extLst>
          </p:cNvPr>
          <p:cNvSpPr txBox="1"/>
          <p:nvPr/>
        </p:nvSpPr>
        <p:spPr>
          <a:xfrm>
            <a:off x="72961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F1FC60-9FA8-E880-11DE-9CDACCBE7E41}"/>
              </a:ext>
            </a:extLst>
          </p:cNvPr>
          <p:cNvSpPr/>
          <p:nvPr/>
        </p:nvSpPr>
        <p:spPr>
          <a:xfrm>
            <a:off x="74676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915CEBE-6FC3-D6EC-922C-EFC343DE45FF}"/>
              </a:ext>
            </a:extLst>
          </p:cNvPr>
          <p:cNvSpPr/>
          <p:nvPr/>
        </p:nvSpPr>
        <p:spPr>
          <a:xfrm>
            <a:off x="7886700" y="2647950"/>
            <a:ext cx="323850" cy="323850"/>
          </a:xfrm>
          <a:prstGeom prst="ellipse">
            <a:avLst/>
          </a:prstGeom>
          <a:solidFill>
            <a:srgbClr val="C884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6CA5F-6BE8-0AF1-5C9C-8E0544056B4F}"/>
              </a:ext>
            </a:extLst>
          </p:cNvPr>
          <p:cNvSpPr txBox="1"/>
          <p:nvPr/>
        </p:nvSpPr>
        <p:spPr>
          <a:xfrm>
            <a:off x="78867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2C190D-FD67-6464-D755-425C88BDC0AD}"/>
              </a:ext>
            </a:extLst>
          </p:cNvPr>
          <p:cNvSpPr txBox="1"/>
          <p:nvPr/>
        </p:nvSpPr>
        <p:spPr>
          <a:xfrm>
            <a:off x="75438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Feedback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1A0586-3B80-47E6-5CD6-BCAF43FE161F}"/>
              </a:ext>
            </a:extLst>
          </p:cNvPr>
          <p:cNvSpPr txBox="1"/>
          <p:nvPr/>
        </p:nvSpPr>
        <p:spPr>
          <a:xfrm>
            <a:off x="86677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98BFB3C-18EE-1904-6C4A-F77A1BC8CFB6}"/>
              </a:ext>
            </a:extLst>
          </p:cNvPr>
          <p:cNvSpPr/>
          <p:nvPr/>
        </p:nvSpPr>
        <p:spPr>
          <a:xfrm>
            <a:off x="88392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5A536B-67EA-9772-EE4F-4BAE00D581BE}"/>
              </a:ext>
            </a:extLst>
          </p:cNvPr>
          <p:cNvSpPr/>
          <p:nvPr/>
        </p:nvSpPr>
        <p:spPr>
          <a:xfrm>
            <a:off x="9258300" y="2647950"/>
            <a:ext cx="323850" cy="3238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6F87F0-5EE3-9C6E-81AA-B6F92642A56F}"/>
              </a:ext>
            </a:extLst>
          </p:cNvPr>
          <p:cNvSpPr txBox="1"/>
          <p:nvPr/>
        </p:nvSpPr>
        <p:spPr>
          <a:xfrm>
            <a:off x="92583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7E1B54-049A-9223-9CCC-2B4782135183}"/>
              </a:ext>
            </a:extLst>
          </p:cNvPr>
          <p:cNvSpPr txBox="1"/>
          <p:nvPr/>
        </p:nvSpPr>
        <p:spPr>
          <a:xfrm>
            <a:off x="89154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Certify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C2DA70-9325-00F8-852D-A50F081A71F3}"/>
              </a:ext>
            </a:extLst>
          </p:cNvPr>
          <p:cNvSpPr txBox="1"/>
          <p:nvPr/>
        </p:nvSpPr>
        <p:spPr>
          <a:xfrm>
            <a:off x="10039350" y="2781300"/>
            <a:ext cx="171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C8842C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7373870-3328-3B11-F167-C7F1EB20A089}"/>
              </a:ext>
            </a:extLst>
          </p:cNvPr>
          <p:cNvSpPr/>
          <p:nvPr/>
        </p:nvSpPr>
        <p:spPr>
          <a:xfrm>
            <a:off x="10210800" y="2533650"/>
            <a:ext cx="116205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F8FF868-1B1D-65BB-AC81-71249A49105B}"/>
              </a:ext>
            </a:extLst>
          </p:cNvPr>
          <p:cNvSpPr/>
          <p:nvPr/>
        </p:nvSpPr>
        <p:spPr>
          <a:xfrm>
            <a:off x="10629900" y="2647950"/>
            <a:ext cx="323850" cy="323850"/>
          </a:xfrm>
          <a:prstGeom prst="ellipse">
            <a:avLst/>
          </a:prstGeom>
          <a:solidFill>
            <a:srgbClr val="C884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247DC0-840C-99F6-0084-0A235D2CEBA1}"/>
              </a:ext>
            </a:extLst>
          </p:cNvPr>
          <p:cNvSpPr txBox="1"/>
          <p:nvPr/>
        </p:nvSpPr>
        <p:spPr>
          <a:xfrm>
            <a:off x="10629900" y="2695575"/>
            <a:ext cx="323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F4D013-090C-0228-C75C-BEEA1D4F36B4}"/>
              </a:ext>
            </a:extLst>
          </p:cNvPr>
          <p:cNvSpPr txBox="1"/>
          <p:nvPr/>
        </p:nvSpPr>
        <p:spPr>
          <a:xfrm>
            <a:off x="10287000" y="3048000"/>
            <a:ext cx="10096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20242C"/>
                </a:solidFill>
                <a:latin typeface="Aptos" panose="020B0004020202020204" pitchFamily="34" charset="0"/>
              </a:rPr>
              <a:t>Report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0188775-4AFF-B42A-7A72-8241A408A6F2}"/>
              </a:ext>
            </a:extLst>
          </p:cNvPr>
          <p:cNvSpPr/>
          <p:nvPr/>
        </p:nvSpPr>
        <p:spPr>
          <a:xfrm>
            <a:off x="838200" y="4267200"/>
            <a:ext cx="10439400" cy="1104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AF6054-8BFA-6000-13EE-1ABD7B1D45A0}"/>
              </a:ext>
            </a:extLst>
          </p:cNvPr>
          <p:cNvSpPr txBox="1"/>
          <p:nvPr/>
        </p:nvSpPr>
        <p:spPr>
          <a:xfrm>
            <a:off x="1181100" y="4533900"/>
            <a:ext cx="781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20242C"/>
                </a:solidFill>
                <a:latin typeface="Aptos" panose="020B0004020202020204" pitchFamily="34" charset="0"/>
              </a:rPr>
              <a:t>One participant record supports every next step.</a:t>
            </a:r>
            <a:endParaRPr lang="en-PH" sz="2500" b="1">
              <a:solidFill>
                <a:srgbClr val="20242C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3D6E6F-FC76-F43C-CF4A-D3E111A26B01}"/>
              </a:ext>
            </a:extLst>
          </p:cNvPr>
          <p:cNvSpPr txBox="1"/>
          <p:nvPr/>
        </p:nvSpPr>
        <p:spPr>
          <a:xfrm>
            <a:off x="1181100" y="5029200"/>
            <a:ext cx="8667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667085"/>
                </a:solidFill>
                <a:latin typeface="Aptos" panose="020B0004020202020204" pitchFamily="34" charset="0"/>
              </a:rPr>
              <a:t>Payment, attendance, evaluation, feedback, and reporting all reference the same course data.</a:t>
            </a:r>
            <a:endParaRPr lang="en-PH" sz="16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78B5126-7455-31AE-DE73-1823639AEB1E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487B3E-D89E-F260-AFE6-390B96D6FEA0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9FB68E-69A9-57E8-09F9-00C90EE6E940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32178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599AA2-A27D-7B46-A079-8B69EB84FE7C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EF776-67E5-FE43-6379-E2CA95F00E5F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PARTICIPANT INTAKE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C9ED0-3C35-0360-73E7-7ECBBE9006C9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Clean Registration And Payment Proof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EEF-6BC9-8241-5A18-A12E82D6F012}"/>
              </a:ext>
            </a:extLst>
          </p:cNvPr>
          <p:cNvSpPr txBox="1"/>
          <p:nvPr/>
        </p:nvSpPr>
        <p:spPr>
          <a:xfrm>
            <a:off x="838200" y="1619250"/>
            <a:ext cx="3714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20242C"/>
                </a:solidFill>
                <a:latin typeface="Aptos" panose="020B0004020202020204" pitchFamily="34" charset="0"/>
              </a:rPr>
              <a:t>Capture each record once.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9D60A-95C6-2EB2-F3ED-1FC7B2C68708}"/>
              </a:ext>
            </a:extLst>
          </p:cNvPr>
          <p:cNvSpPr txBox="1"/>
          <p:nvPr/>
        </p:nvSpPr>
        <p:spPr>
          <a:xfrm>
            <a:off x="838200" y="2266950"/>
            <a:ext cx="3714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667085"/>
                </a:solidFill>
                <a:latin typeface="Aptos" panose="020B0004020202020204" pitchFamily="34" charset="0"/>
              </a:rPr>
              <a:t>- Course and reference number</a:t>
            </a:r>
          </a:p>
          <a:p>
            <a:r>
              <a:rPr lang="en-US">
                <a:solidFill>
                  <a:srgbClr val="667085"/>
                </a:solidFill>
                <a:latin typeface="Aptos" panose="020B0004020202020204" pitchFamily="34" charset="0"/>
              </a:rPr>
              <a:t>- Payment proof attached to registration</a:t>
            </a:r>
          </a:p>
          <a:p>
            <a:r>
              <a:rPr lang="en-US">
                <a:solidFill>
                  <a:srgbClr val="667085"/>
                </a:solidFill>
                <a:latin typeface="Aptos" panose="020B0004020202020204" pitchFamily="34" charset="0"/>
              </a:rPr>
              <a:t>- Manual review using the current bank process</a:t>
            </a:r>
            <a:endParaRPr lang="en-PH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7D825A-6730-8A00-8705-200B01AE12BC}"/>
              </a:ext>
            </a:extLst>
          </p:cNvPr>
          <p:cNvSpPr/>
          <p:nvPr/>
        </p:nvSpPr>
        <p:spPr>
          <a:xfrm>
            <a:off x="838200" y="4000500"/>
            <a:ext cx="3714750" cy="1257300"/>
          </a:xfrm>
          <a:prstGeom prst="roundRect">
            <a:avLst/>
          </a:prstGeom>
          <a:solidFill>
            <a:srgbClr val="FFF7E8"/>
          </a:solidFill>
          <a:ln w="9525">
            <a:solidFill>
              <a:srgbClr val="F1D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32491-1FA1-DFB3-5085-423CDBF2C9A1}"/>
              </a:ext>
            </a:extLst>
          </p:cNvPr>
          <p:cNvSpPr txBox="1"/>
          <p:nvPr/>
        </p:nvSpPr>
        <p:spPr>
          <a:xfrm>
            <a:off x="1066800" y="4210050"/>
            <a:ext cx="2381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20242C"/>
                </a:solidFill>
                <a:latin typeface="Aptos" panose="020B0004020202020204" pitchFamily="34" charset="0"/>
              </a:rPr>
              <a:t>Secure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41534-0EC4-8A4A-82B4-414A0B807FFF}"/>
              </a:ext>
            </a:extLst>
          </p:cNvPr>
          <p:cNvSpPr txBox="1"/>
          <p:nvPr/>
        </p:nvSpPr>
        <p:spPr>
          <a:xfrm>
            <a:off x="1066800" y="46101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667085"/>
                </a:solidFill>
                <a:latin typeface="Aptos" panose="020B0004020202020204" pitchFamily="34" charset="0"/>
              </a:rPr>
              <a:t>Move receipt files to object storage before go-live.</a:t>
            </a:r>
            <a:endParaRPr lang="en-PH" sz="16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42A530-28AC-192A-C9A6-9967BE4F3662}"/>
              </a:ext>
            </a:extLst>
          </p:cNvPr>
          <p:cNvSpPr/>
          <p:nvPr/>
        </p:nvSpPr>
        <p:spPr>
          <a:xfrm>
            <a:off x="5067300" y="1600200"/>
            <a:ext cx="6553200" cy="3162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81E02E-1453-A7B1-79C7-563745BB31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638300"/>
            <a:ext cx="6477000" cy="3086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C4A835B-6FC0-D17D-AAD8-1BB17CCD0BEE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F2261-0643-6A20-2512-4FBEBD8813BD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9DF3D-81AB-FECD-B079-B95653DFD004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3617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AD807F-974F-2E58-8516-34F712E8A029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443B1-C969-1524-7D82-9E91C32566A4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INSTRUCTOR CONTROL 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B4CAB-BBE5-028C-B288-6710C4F5E30A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Operations Control Status, Proof, And Accounts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1DF83-D70E-157D-3334-F99A83D13A32}"/>
              </a:ext>
            </a:extLst>
          </p:cNvPr>
          <p:cNvSpPr txBox="1"/>
          <p:nvPr/>
        </p:nvSpPr>
        <p:spPr>
          <a:xfrm>
            <a:off x="838200" y="1314450"/>
            <a:ext cx="9620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667085"/>
                </a:solidFill>
                <a:latin typeface="Aptos" panose="020B0004020202020204" pitchFamily="34" charset="0"/>
              </a:rPr>
              <a:t>A live queue shows registrations, payment proof review, and account creation.</a:t>
            </a:r>
            <a:endParaRPr lang="en-PH" sz="20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D71734-A914-7392-62F1-1CE1BFBEE26D}"/>
              </a:ext>
            </a:extLst>
          </p:cNvPr>
          <p:cNvSpPr/>
          <p:nvPr/>
        </p:nvSpPr>
        <p:spPr>
          <a:xfrm>
            <a:off x="1314450" y="1924050"/>
            <a:ext cx="95631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F77E88-7720-8745-7C14-A118D7F36D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1962150"/>
            <a:ext cx="9486900" cy="44958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3DC692-F7C3-57AF-3E9C-F2B7A1DE8ACB}"/>
              </a:ext>
            </a:extLst>
          </p:cNvPr>
          <p:cNvSpPr/>
          <p:nvPr/>
        </p:nvSpPr>
        <p:spPr>
          <a:xfrm>
            <a:off x="8020050" y="1943100"/>
            <a:ext cx="135255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6951B-C74D-B524-4614-7CE3550B9EB3}"/>
              </a:ext>
            </a:extLst>
          </p:cNvPr>
          <p:cNvSpPr txBox="1"/>
          <p:nvPr/>
        </p:nvSpPr>
        <p:spPr>
          <a:xfrm>
            <a:off x="8229600" y="2114550"/>
            <a:ext cx="933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D61F32"/>
                </a:solidFill>
                <a:latin typeface="Aptos" panose="020B0004020202020204" pitchFamily="34" charset="0"/>
              </a:rPr>
              <a:t>Live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4266D-54B1-D88C-7A95-823D2AD83E47}"/>
              </a:ext>
            </a:extLst>
          </p:cNvPr>
          <p:cNvSpPr txBox="1"/>
          <p:nvPr/>
        </p:nvSpPr>
        <p:spPr>
          <a:xfrm>
            <a:off x="8229600" y="2486025"/>
            <a:ext cx="933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 dirty="0">
                <a:solidFill>
                  <a:srgbClr val="667085"/>
                </a:solidFill>
                <a:latin typeface="Aptos" panose="020B0004020202020204" pitchFamily="34" charset="0"/>
              </a:rPr>
              <a:t>REGISTRATION QUEUE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6BEBB4-382A-F247-B284-AA9A8096CF3C}"/>
              </a:ext>
            </a:extLst>
          </p:cNvPr>
          <p:cNvSpPr/>
          <p:nvPr/>
        </p:nvSpPr>
        <p:spPr>
          <a:xfrm>
            <a:off x="9544050" y="1943100"/>
            <a:ext cx="135255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30380-AB39-B00B-2BA8-20B84FDF943C}"/>
              </a:ext>
            </a:extLst>
          </p:cNvPr>
          <p:cNvSpPr txBox="1"/>
          <p:nvPr/>
        </p:nvSpPr>
        <p:spPr>
          <a:xfrm>
            <a:off x="9753600" y="2114550"/>
            <a:ext cx="933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D61F32"/>
                </a:solidFill>
                <a:latin typeface="Aptos" panose="020B0004020202020204" pitchFamily="34" charset="0"/>
              </a:rPr>
              <a:t>Paid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55450-0619-43F3-6E1B-15599874461E}"/>
              </a:ext>
            </a:extLst>
          </p:cNvPr>
          <p:cNvSpPr txBox="1"/>
          <p:nvPr/>
        </p:nvSpPr>
        <p:spPr>
          <a:xfrm>
            <a:off x="9753600" y="2486025"/>
            <a:ext cx="933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667085"/>
                </a:solidFill>
                <a:latin typeface="Aptos" panose="020B0004020202020204" pitchFamily="34" charset="0"/>
              </a:rPr>
              <a:t>STATUS VISIBILITY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B84F4F-E245-E332-0186-B43A65F2AC44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06519F-7483-5746-4428-5DE80D988746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6BAE1-E5D8-8256-CFFF-E78DE5FF7753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4316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129E87-C45A-48B7-749A-6B08DE73FB92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3F9F2-1C1B-43AD-C2BB-C647BEE727CA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ATTENDANCE AND WALK-INS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85F12-AFEC-140E-DC49-B1EFF53AAE11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 dirty="0">
                <a:solidFill>
                  <a:srgbClr val="20242C"/>
                </a:solidFill>
                <a:latin typeface="Aptos Display" panose="020B0004020202020204" pitchFamily="34" charset="0"/>
              </a:rPr>
              <a:t>Attendance And Walk-Ins Stay Connected</a:t>
            </a:r>
            <a:endParaRPr lang="en-PH" sz="3500" b="1" dirty="0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A5ADE-B9D3-01BE-40DC-2E86313F35BA}"/>
              </a:ext>
            </a:extLst>
          </p:cNvPr>
          <p:cNvSpPr txBox="1"/>
          <p:nvPr/>
        </p:nvSpPr>
        <p:spPr>
          <a:xfrm>
            <a:off x="838200" y="131445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667085"/>
                </a:solidFill>
                <a:latin typeface="Aptos" panose="020B0004020202020204" pitchFamily="34" charset="0"/>
              </a:rPr>
              <a:t>Check-in, absent states, and walk-ins are handled from the same course record.</a:t>
            </a:r>
            <a:endParaRPr lang="en-PH" sz="20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ABB7F9-05F4-07C9-6B1D-1528E63D4C3E}"/>
              </a:ext>
            </a:extLst>
          </p:cNvPr>
          <p:cNvSpPr/>
          <p:nvPr/>
        </p:nvSpPr>
        <p:spPr>
          <a:xfrm>
            <a:off x="1314450" y="1924050"/>
            <a:ext cx="95631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DD170D-A2B3-B522-ED4C-BF9BF4029A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1962150"/>
            <a:ext cx="9486900" cy="44958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D6BFBA-A6BF-CC8A-50A7-ED2CB145371A}"/>
              </a:ext>
            </a:extLst>
          </p:cNvPr>
          <p:cNvSpPr/>
          <p:nvPr/>
        </p:nvSpPr>
        <p:spPr>
          <a:xfrm>
            <a:off x="7658100" y="5105400"/>
            <a:ext cx="2857500" cy="876300"/>
          </a:xfrm>
          <a:prstGeom prst="roundRect">
            <a:avLst/>
          </a:prstGeom>
          <a:solidFill>
            <a:srgbClr val="168A5B"/>
          </a:solidFill>
          <a:ln w="12700" cap="flat" cmpd="sng" algn="ctr">
            <a:noFill/>
            <a:prstDash val="solid"/>
            <a:miter lim="800000"/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917FC-6411-14FD-3F06-DB9902E01EB5}"/>
              </a:ext>
            </a:extLst>
          </p:cNvPr>
          <p:cNvSpPr txBox="1"/>
          <p:nvPr/>
        </p:nvSpPr>
        <p:spPr>
          <a:xfrm>
            <a:off x="7905750" y="5276850"/>
            <a:ext cx="236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FFFFFF"/>
                </a:solidFill>
                <a:latin typeface="Aptos" panose="020B0004020202020204" pitchFamily="34" charset="0"/>
              </a:rPr>
              <a:t>Walk-ins become participant records.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59A06-2896-271D-B281-ED41916D8DD5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ECC12-1EB8-F0F6-6675-391FA29B9D19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C10C7-C691-544F-7580-0367A6F06CBD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350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CA8C5-5A5A-45DD-6CA3-0B95957CCDBB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BE436-ACA2-3D86-A477-286637DF0C3E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ACCREDITATION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1E7D6-7A1E-0C3B-EF81-0E9C0D1F5CA7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Grading And Feedback Follow The Same Standard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33ED-AEAA-6923-AE76-17EEDE231309}"/>
              </a:ext>
            </a:extLst>
          </p:cNvPr>
          <p:cNvSpPr txBox="1"/>
          <p:nvPr/>
        </p:nvSpPr>
        <p:spPr>
          <a:xfrm>
            <a:off x="838200" y="1314450"/>
            <a:ext cx="9620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667085"/>
                </a:solidFill>
                <a:latin typeface="Aptos" panose="020B0004020202020204" pitchFamily="34" charset="0"/>
              </a:rPr>
              <a:t>Central criteria keep evaluations consistent and feedback tied to the participant record.</a:t>
            </a:r>
            <a:endParaRPr lang="en-PH" sz="20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9180C2-EC8C-9B83-2906-8F7994450625}"/>
              </a:ext>
            </a:extLst>
          </p:cNvPr>
          <p:cNvSpPr/>
          <p:nvPr/>
        </p:nvSpPr>
        <p:spPr>
          <a:xfrm>
            <a:off x="647700" y="1752600"/>
            <a:ext cx="5295900" cy="2552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BDB93A-87BD-6679-0708-05CF1A38BD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90700"/>
            <a:ext cx="5219700" cy="24765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C58D63-FD57-00F8-957E-DC70A27984F9}"/>
              </a:ext>
            </a:extLst>
          </p:cNvPr>
          <p:cNvSpPr/>
          <p:nvPr/>
        </p:nvSpPr>
        <p:spPr>
          <a:xfrm>
            <a:off x="6248400" y="1752600"/>
            <a:ext cx="5295900" cy="25527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58BFB9-5749-4638-E330-A075F36326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790700"/>
            <a:ext cx="5219700" cy="24765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27839A-7111-0897-BB31-EF49463B8B71}"/>
              </a:ext>
            </a:extLst>
          </p:cNvPr>
          <p:cNvSpPr/>
          <p:nvPr/>
        </p:nvSpPr>
        <p:spPr>
          <a:xfrm>
            <a:off x="838200" y="4762500"/>
            <a:ext cx="3124200" cy="11170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B3F4DF-750C-1A1D-E7F9-983A70917EA8}"/>
              </a:ext>
            </a:extLst>
          </p:cNvPr>
          <p:cNvSpPr txBox="1"/>
          <p:nvPr/>
        </p:nvSpPr>
        <p:spPr>
          <a:xfrm>
            <a:off x="1009650" y="4895850"/>
            <a:ext cx="2781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900" b="1">
                <a:solidFill>
                  <a:srgbClr val="D61F32"/>
                </a:solidFill>
                <a:latin typeface="Aptos" panose="020B0004020202020204" pitchFamily="34" charset="0"/>
              </a:rPr>
              <a:t>Standard criteria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5B4B7-9785-31C4-069B-38CDB8DDCB0A}"/>
              </a:ext>
            </a:extLst>
          </p:cNvPr>
          <p:cNvSpPr txBox="1"/>
          <p:nvPr/>
        </p:nvSpPr>
        <p:spPr>
          <a:xfrm>
            <a:off x="1009650" y="5257800"/>
            <a:ext cx="27241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667085"/>
                </a:solidFill>
                <a:latin typeface="Aptos" panose="020B0004020202020204" pitchFamily="34" charset="0"/>
              </a:rPr>
              <a:t>The organization controls what instructors evaluate.</a:t>
            </a:r>
            <a:endParaRPr lang="en-PH" sz="16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A6AA3A-2D30-2E81-C02D-CB1E5C1031D1}"/>
              </a:ext>
            </a:extLst>
          </p:cNvPr>
          <p:cNvSpPr/>
          <p:nvPr/>
        </p:nvSpPr>
        <p:spPr>
          <a:xfrm>
            <a:off x="4476750" y="4762500"/>
            <a:ext cx="3124200" cy="11170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55FAAA-C57D-B3FA-FC78-95D1EC00E8B1}"/>
              </a:ext>
            </a:extLst>
          </p:cNvPr>
          <p:cNvSpPr txBox="1"/>
          <p:nvPr/>
        </p:nvSpPr>
        <p:spPr>
          <a:xfrm>
            <a:off x="4648200" y="4895850"/>
            <a:ext cx="2781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900" b="1">
                <a:solidFill>
                  <a:srgbClr val="C8842C"/>
                </a:solidFill>
                <a:latin typeface="Aptos" panose="020B0004020202020204" pitchFamily="34" charset="0"/>
              </a:rPr>
              <a:t>Accountability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D60E1-7F2A-3241-2C84-368E60CF2977}"/>
              </a:ext>
            </a:extLst>
          </p:cNvPr>
          <p:cNvSpPr txBox="1"/>
          <p:nvPr/>
        </p:nvSpPr>
        <p:spPr>
          <a:xfrm>
            <a:off x="4648200" y="5257800"/>
            <a:ext cx="27241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667085"/>
                </a:solidFill>
                <a:latin typeface="Aptos" panose="020B0004020202020204" pitchFamily="34" charset="0"/>
              </a:rPr>
              <a:t>Course activity completion becomes visible.</a:t>
            </a:r>
            <a:endParaRPr lang="en-PH" sz="16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A30852-EFF8-6A98-1C35-2801CF7B1BA2}"/>
              </a:ext>
            </a:extLst>
          </p:cNvPr>
          <p:cNvSpPr/>
          <p:nvPr/>
        </p:nvSpPr>
        <p:spPr>
          <a:xfrm>
            <a:off x="8115300" y="4762500"/>
            <a:ext cx="3124200" cy="11170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1BBA30-74BD-35FD-EE0B-D16A273A70C3}"/>
              </a:ext>
            </a:extLst>
          </p:cNvPr>
          <p:cNvSpPr txBox="1"/>
          <p:nvPr/>
        </p:nvSpPr>
        <p:spPr>
          <a:xfrm>
            <a:off x="8286750" y="4895850"/>
            <a:ext cx="2781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900" b="1">
                <a:solidFill>
                  <a:srgbClr val="D61F32"/>
                </a:solidFill>
                <a:latin typeface="Aptos" panose="020B0004020202020204" pitchFamily="34" charset="0"/>
              </a:rPr>
              <a:t>Certification readiness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3D0C06-E14C-A114-EE31-085308494D54}"/>
              </a:ext>
            </a:extLst>
          </p:cNvPr>
          <p:cNvSpPr txBox="1"/>
          <p:nvPr/>
        </p:nvSpPr>
        <p:spPr>
          <a:xfrm>
            <a:off x="8286750" y="5257800"/>
            <a:ext cx="27241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667085"/>
                </a:solidFill>
                <a:latin typeface="Aptos" panose="020B0004020202020204" pitchFamily="34" charset="0"/>
              </a:rPr>
              <a:t>Participant status is based on linked records.</a:t>
            </a:r>
            <a:endParaRPr lang="en-PH" sz="1600" dirty="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0D4748-22A1-7158-23AF-538DC6A528D9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93C92-6874-E9AE-3EE3-14B9F27F6981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171058-8AF2-A2FC-76B3-84063034B1C4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478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25C3E-9038-E3D8-4E51-7B675AA9248C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A8FD7-A2A9-3E2B-4298-88ED43950145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D61F32"/>
                </a:solidFill>
                <a:latin typeface="Aptos" panose="020B0004020202020204" pitchFamily="34" charset="0"/>
              </a:rPr>
              <a:t>PARTICIPANT PORTAL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D5690-95A9-D8D0-26CB-35010260CE27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Participants Get A Clear View Of Their Progress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E282F-ACF5-BCD4-170C-56BB860A2591}"/>
              </a:ext>
            </a:extLst>
          </p:cNvPr>
          <p:cNvSpPr txBox="1"/>
          <p:nvPr/>
        </p:nvSpPr>
        <p:spPr>
          <a:xfrm>
            <a:off x="838200" y="1409700"/>
            <a:ext cx="400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667085"/>
                </a:solidFill>
                <a:latin typeface="Aptos" panose="020B0004020202020204" pitchFamily="34" charset="0"/>
              </a:rPr>
              <a:t>Athletes can check their course, payment proof, evaluation progress, profile, feedback, and certification steps without asking admin for every update.</a:t>
            </a:r>
            <a:endParaRPr lang="en-PH" sz="20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579BFF-041C-CB79-229A-D5DDDE6D5DAC}"/>
              </a:ext>
            </a:extLst>
          </p:cNvPr>
          <p:cNvSpPr/>
          <p:nvPr/>
        </p:nvSpPr>
        <p:spPr>
          <a:xfrm>
            <a:off x="838200" y="3019425"/>
            <a:ext cx="3657600" cy="1962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8CED6-B0A7-8781-C5D8-5E63B1825039}"/>
              </a:ext>
            </a:extLst>
          </p:cNvPr>
          <p:cNvSpPr txBox="1"/>
          <p:nvPr/>
        </p:nvSpPr>
        <p:spPr>
          <a:xfrm>
            <a:off x="1104900" y="30861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20242C"/>
                </a:solidFill>
                <a:latin typeface="Aptos" panose="020B0004020202020204" pitchFamily="34" charset="0"/>
              </a:rPr>
              <a:t>Operational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F94F2-C196-E615-18DD-C176DD97D499}"/>
              </a:ext>
            </a:extLst>
          </p:cNvPr>
          <p:cNvSpPr txBox="1"/>
          <p:nvPr/>
        </p:nvSpPr>
        <p:spPr>
          <a:xfrm>
            <a:off x="1104900" y="3562350"/>
            <a:ext cx="2952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667085"/>
                </a:solidFill>
                <a:latin typeface="Aptos" panose="020B0004020202020204" pitchFamily="34" charset="0"/>
              </a:rPr>
              <a:t>Fewer status questions</a:t>
            </a:r>
          </a:p>
          <a:p>
            <a:r>
              <a:rPr lang="en-US" sz="1700">
                <a:solidFill>
                  <a:srgbClr val="667085"/>
                </a:solidFill>
                <a:latin typeface="Aptos" panose="020B0004020202020204" pitchFamily="34" charset="0"/>
              </a:rPr>
              <a:t>Cleaner self-service</a:t>
            </a:r>
          </a:p>
          <a:p>
            <a:r>
              <a:rPr lang="en-US" sz="1700">
                <a:solidFill>
                  <a:srgbClr val="667085"/>
                </a:solidFill>
                <a:latin typeface="Aptos" panose="020B0004020202020204" pitchFamily="34" charset="0"/>
              </a:rPr>
              <a:t>Feedback tied to records</a:t>
            </a:r>
            <a:endParaRPr lang="en-PH" sz="17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B2D981-4809-8697-1C55-DCB8F122DB73}"/>
              </a:ext>
            </a:extLst>
          </p:cNvPr>
          <p:cNvSpPr/>
          <p:nvPr/>
        </p:nvSpPr>
        <p:spPr>
          <a:xfrm>
            <a:off x="5067300" y="1390650"/>
            <a:ext cx="6553200" cy="3162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03CAEB-0160-6161-B62F-8E4488B5AB3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428750"/>
            <a:ext cx="6477000" cy="30861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A3408E-BE61-E47A-C5B2-B2415F7E12D2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6C7FB-10DC-094A-A365-BB392D42D856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6791F-2766-3C26-EA6E-C34AA0378BC1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584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3DD77C-A8FE-9D7B-0747-2D2F5AC580ED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753DD-36C6-AB09-DBA6-5150E6C1046E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REPORTING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A9DC3-EBB0-4C73-F034-48DDB194FBD6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Reports Come Directly From Operations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F5A0E-7178-B651-1303-B8326669431F}"/>
              </a:ext>
            </a:extLst>
          </p:cNvPr>
          <p:cNvSpPr txBox="1"/>
          <p:nvPr/>
        </p:nvSpPr>
        <p:spPr>
          <a:xfrm>
            <a:off x="838200" y="12573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667085"/>
                </a:solidFill>
                <a:latin typeface="Aptos" panose="020B0004020202020204" pitchFamily="34" charset="0"/>
              </a:rPr>
              <a:t>Because activity is captured in one system, summaries and exports can be generated from operational records instead of manual spreadsheet work.</a:t>
            </a:r>
            <a:endParaRPr lang="en-PH" sz="20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2DD33A-0D96-94C7-A2B0-06F7444D4C91}"/>
              </a:ext>
            </a:extLst>
          </p:cNvPr>
          <p:cNvSpPr/>
          <p:nvPr/>
        </p:nvSpPr>
        <p:spPr>
          <a:xfrm>
            <a:off x="838200" y="2015490"/>
            <a:ext cx="10215372" cy="46710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9E012-43DA-D4AC-1922-8AAC877D07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411" y="2221992"/>
            <a:ext cx="9246489" cy="434263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E47B32-11F1-075A-2DE0-C7F871B807F8}"/>
              </a:ext>
            </a:extLst>
          </p:cNvPr>
          <p:cNvSpPr/>
          <p:nvPr/>
        </p:nvSpPr>
        <p:spPr>
          <a:xfrm>
            <a:off x="7981950" y="4948190"/>
            <a:ext cx="2381250" cy="876300"/>
          </a:xfrm>
          <a:prstGeom prst="round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>
            <a:outerShdw blurRad="127000" dist="25400" dir="5400000" rotWithShape="0">
              <a:scrgbClr r="0" g="0" b="0">
                <a:alpha val="14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87BFE-050C-EA5F-7166-11399E32F471}"/>
              </a:ext>
            </a:extLst>
          </p:cNvPr>
          <p:cNvSpPr txBox="1"/>
          <p:nvPr/>
        </p:nvSpPr>
        <p:spPr>
          <a:xfrm>
            <a:off x="8317611" y="5054870"/>
            <a:ext cx="20002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 dirty="0">
                <a:solidFill>
                  <a:srgbClr val="FFFFFF"/>
                </a:solidFill>
                <a:latin typeface="Aptos" panose="020B0004020202020204" pitchFamily="34" charset="0"/>
              </a:rPr>
              <a:t>Excel and PDF-ready exports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41131A-CF27-F852-8D6A-61F042B30EA7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FDD8F4-0A94-F3D1-AEB2-7A18DB6AB96C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4D164-C5D4-6C8E-8EE5-A7EEDB0B593E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5879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7E829-7824-C4FF-EDEE-606686E8E654}"/>
              </a:ext>
            </a:extLst>
          </p:cNvPr>
          <p:cNvSpPr txBox="1"/>
          <p:nvPr/>
        </p:nvSpPr>
        <p:spPr>
          <a:xfrm>
            <a:off x="4774692" y="2782669"/>
            <a:ext cx="2843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Questions?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64890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B2C4DD-8360-A9BC-7EB8-CD3CDF902C38}"/>
              </a:ext>
            </a:extLst>
          </p:cNvPr>
          <p:cNvSpPr/>
          <p:nvPr/>
        </p:nvSpPr>
        <p:spPr>
          <a:xfrm>
            <a:off x="609600" y="514350"/>
            <a:ext cx="76200" cy="609600"/>
          </a:xfrm>
          <a:prstGeom prst="rect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45C5C-C657-2F48-CAE5-3BF5C6737CFF}"/>
              </a:ext>
            </a:extLst>
          </p:cNvPr>
          <p:cNvSpPr txBox="1"/>
          <p:nvPr/>
        </p:nvSpPr>
        <p:spPr>
          <a:xfrm>
            <a:off x="838200" y="45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D61F32"/>
                </a:solidFill>
                <a:latin typeface="Aptos" panose="020B0004020202020204" pitchFamily="34" charset="0"/>
              </a:rPr>
              <a:t>ROLLOUT AND INVESTMENT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FE006-7052-DC4C-A8CD-725585C491F0}"/>
              </a:ext>
            </a:extLst>
          </p:cNvPr>
          <p:cNvSpPr txBox="1"/>
          <p:nvPr/>
        </p:nvSpPr>
        <p:spPr>
          <a:xfrm>
            <a:off x="838200" y="66675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20242C"/>
                </a:solidFill>
                <a:latin typeface="Aptos Display" panose="020B0004020202020204" pitchFamily="34" charset="0"/>
              </a:rPr>
              <a:t>Launch The Right Scope After A Workshop</a:t>
            </a:r>
            <a:endParaRPr lang="en-PH" sz="3500" b="1">
              <a:solidFill>
                <a:srgbClr val="20242C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7E28B2-25BE-C845-5059-C78E5E166E79}"/>
              </a:ext>
            </a:extLst>
          </p:cNvPr>
          <p:cNvSpPr/>
          <p:nvPr/>
        </p:nvSpPr>
        <p:spPr>
          <a:xfrm>
            <a:off x="857250" y="1485900"/>
            <a:ext cx="361950" cy="3619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D96F1-CCCD-EFF7-AA55-51B65677082D}"/>
              </a:ext>
            </a:extLst>
          </p:cNvPr>
          <p:cNvSpPr txBox="1"/>
          <p:nvPr/>
        </p:nvSpPr>
        <p:spPr>
          <a:xfrm>
            <a:off x="857250" y="1543050"/>
            <a:ext cx="361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9F7A3-53EE-87AF-4299-877FD21D37BF}"/>
              </a:ext>
            </a:extLst>
          </p:cNvPr>
          <p:cNvSpPr txBox="1"/>
          <p:nvPr/>
        </p:nvSpPr>
        <p:spPr>
          <a:xfrm>
            <a:off x="1390650" y="1466850"/>
            <a:ext cx="2952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>
                <a:solidFill>
                  <a:srgbClr val="20242C"/>
                </a:solidFill>
                <a:latin typeface="Aptos" panose="020B0004020202020204" pitchFamily="34" charset="0"/>
              </a:rPr>
              <a:t>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D5336-EC64-4055-E5E6-14089FB298A0}"/>
              </a:ext>
            </a:extLst>
          </p:cNvPr>
          <p:cNvSpPr txBox="1"/>
          <p:nvPr/>
        </p:nvSpPr>
        <p:spPr>
          <a:xfrm>
            <a:off x="1390650" y="1771650"/>
            <a:ext cx="312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667085"/>
                </a:solidFill>
                <a:latin typeface="Aptos" panose="020B0004020202020204" pitchFamily="34" charset="0"/>
              </a:rPr>
              <a:t>Confirm roles, workflow, reports, branding, language, deployment, and migration needs.</a:t>
            </a:r>
            <a:endParaRPr lang="en-PH" sz="15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240DD5-193C-CA89-FE1F-606EC0E693A8}"/>
              </a:ext>
            </a:extLst>
          </p:cNvPr>
          <p:cNvSpPr/>
          <p:nvPr/>
        </p:nvSpPr>
        <p:spPr>
          <a:xfrm>
            <a:off x="857250" y="2724150"/>
            <a:ext cx="361950" cy="3619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F7FA2-5C72-8E78-3199-DF1441706E3F}"/>
              </a:ext>
            </a:extLst>
          </p:cNvPr>
          <p:cNvSpPr txBox="1"/>
          <p:nvPr/>
        </p:nvSpPr>
        <p:spPr>
          <a:xfrm>
            <a:off x="857250" y="2781300"/>
            <a:ext cx="361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B7CDE-8933-3A28-896B-1B018246AC8D}"/>
              </a:ext>
            </a:extLst>
          </p:cNvPr>
          <p:cNvSpPr txBox="1"/>
          <p:nvPr/>
        </p:nvSpPr>
        <p:spPr>
          <a:xfrm>
            <a:off x="1390650" y="2705100"/>
            <a:ext cx="2952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>
                <a:solidFill>
                  <a:srgbClr val="20242C"/>
                </a:solidFill>
                <a:latin typeface="Aptos" panose="020B0004020202020204" pitchFamily="34" charset="0"/>
              </a:rPr>
              <a:t>Rollout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A2557-5886-41CE-468B-2CFEDEA929A1}"/>
              </a:ext>
            </a:extLst>
          </p:cNvPr>
          <p:cNvSpPr txBox="1"/>
          <p:nvPr/>
        </p:nvSpPr>
        <p:spPr>
          <a:xfrm>
            <a:off x="1390650" y="3009900"/>
            <a:ext cx="312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667085"/>
                </a:solidFill>
                <a:latin typeface="Aptos" panose="020B0004020202020204" pitchFamily="34" charset="0"/>
              </a:rPr>
              <a:t>Choose a focused pilot course or move directly to a production association launch.</a:t>
            </a:r>
            <a:endParaRPr lang="en-PH" sz="15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751B47-84B9-CA24-2690-18DD75D54E8E}"/>
              </a:ext>
            </a:extLst>
          </p:cNvPr>
          <p:cNvSpPr/>
          <p:nvPr/>
        </p:nvSpPr>
        <p:spPr>
          <a:xfrm>
            <a:off x="857250" y="3962400"/>
            <a:ext cx="361950" cy="361950"/>
          </a:xfrm>
          <a:prstGeom prst="ellipse">
            <a:avLst/>
          </a:prstGeom>
          <a:solidFill>
            <a:srgbClr val="D61F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B7C17-07FB-746E-92BB-DA0F0F8D07A0}"/>
              </a:ext>
            </a:extLst>
          </p:cNvPr>
          <p:cNvSpPr txBox="1"/>
          <p:nvPr/>
        </p:nvSpPr>
        <p:spPr>
          <a:xfrm>
            <a:off x="857250" y="4019550"/>
            <a:ext cx="361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4DA766-A68E-FC27-7022-E0658B7049F6}"/>
              </a:ext>
            </a:extLst>
          </p:cNvPr>
          <p:cNvSpPr txBox="1"/>
          <p:nvPr/>
        </p:nvSpPr>
        <p:spPr>
          <a:xfrm>
            <a:off x="1390650" y="3943350"/>
            <a:ext cx="2952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100" b="1">
                <a:solidFill>
                  <a:srgbClr val="20242C"/>
                </a:solidFill>
                <a:latin typeface="Aptos" panose="020B0004020202020204" pitchFamily="34" charset="0"/>
              </a:rPr>
              <a:t>Hardening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24266-2BD3-FD45-F62C-B2D5B58929C8}"/>
              </a:ext>
            </a:extLst>
          </p:cNvPr>
          <p:cNvSpPr txBox="1"/>
          <p:nvPr/>
        </p:nvSpPr>
        <p:spPr>
          <a:xfrm>
            <a:off x="1390650" y="4248150"/>
            <a:ext cx="312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667085"/>
                </a:solidFill>
                <a:latin typeface="Aptos" panose="020B0004020202020204" pitchFamily="34" charset="0"/>
              </a:rPr>
              <a:t>Secure deployment, email delivery, file storage, backups, monitoring, training, and support.</a:t>
            </a:r>
            <a:endParaRPr lang="en-PH" sz="15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7B316-DA91-E757-50FE-7BE625904B6E}"/>
              </a:ext>
            </a:extLst>
          </p:cNvPr>
          <p:cNvSpPr txBox="1"/>
          <p:nvPr/>
        </p:nvSpPr>
        <p:spPr>
          <a:xfrm>
            <a:off x="5162550" y="1466850"/>
            <a:ext cx="438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20242C"/>
                </a:solidFill>
                <a:latin typeface="Aptos" panose="020B0004020202020204" pitchFamily="34" charset="0"/>
              </a:rPr>
              <a:t>Recommended commercial anchor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253617-D765-0954-589C-A7C03F7386A3}"/>
              </a:ext>
            </a:extLst>
          </p:cNvPr>
          <p:cNvSpPr/>
          <p:nvPr/>
        </p:nvSpPr>
        <p:spPr>
          <a:xfrm>
            <a:off x="5162550" y="1905000"/>
            <a:ext cx="1695450" cy="419100"/>
          </a:xfrm>
          <a:prstGeom prst="rect">
            <a:avLst/>
          </a:prstGeom>
          <a:solidFill>
            <a:srgbClr val="D61F32"/>
          </a:solidFill>
          <a:ln w="9525">
            <a:solidFill>
              <a:srgbClr val="AA14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A96606-71A1-9496-618F-5B2A94430EF7}"/>
              </a:ext>
            </a:extLst>
          </p:cNvPr>
          <p:cNvSpPr txBox="1"/>
          <p:nvPr/>
        </p:nvSpPr>
        <p:spPr>
          <a:xfrm>
            <a:off x="5276850" y="2019300"/>
            <a:ext cx="1466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Option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E7CA33-EB79-CE8A-9E32-61EFE70EED60}"/>
              </a:ext>
            </a:extLst>
          </p:cNvPr>
          <p:cNvSpPr/>
          <p:nvPr/>
        </p:nvSpPr>
        <p:spPr>
          <a:xfrm>
            <a:off x="6858000" y="1905000"/>
            <a:ext cx="2076450" cy="419100"/>
          </a:xfrm>
          <a:prstGeom prst="rect">
            <a:avLst/>
          </a:prstGeom>
          <a:solidFill>
            <a:srgbClr val="D61F32"/>
          </a:solidFill>
          <a:ln w="9525">
            <a:solidFill>
              <a:srgbClr val="AA14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69628B-9A01-38DF-1406-44C583C9486E}"/>
              </a:ext>
            </a:extLst>
          </p:cNvPr>
          <p:cNvSpPr txBox="1"/>
          <p:nvPr/>
        </p:nvSpPr>
        <p:spPr>
          <a:xfrm>
            <a:off x="6972300" y="2019300"/>
            <a:ext cx="1847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1B214-77A1-7FC9-9F5C-C6FA5E544AFF}"/>
              </a:ext>
            </a:extLst>
          </p:cNvPr>
          <p:cNvSpPr/>
          <p:nvPr/>
        </p:nvSpPr>
        <p:spPr>
          <a:xfrm>
            <a:off x="8934450" y="1905000"/>
            <a:ext cx="2114550" cy="419100"/>
          </a:xfrm>
          <a:prstGeom prst="rect">
            <a:avLst/>
          </a:prstGeom>
          <a:solidFill>
            <a:srgbClr val="D61F32"/>
          </a:solidFill>
          <a:ln w="9525">
            <a:solidFill>
              <a:srgbClr val="AA14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24C669-96F7-AE7E-FE25-2F3D135B1765}"/>
              </a:ext>
            </a:extLst>
          </p:cNvPr>
          <p:cNvSpPr txBox="1"/>
          <p:nvPr/>
        </p:nvSpPr>
        <p:spPr>
          <a:xfrm>
            <a:off x="9048750" y="2019300"/>
            <a:ext cx="1885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Managed support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03E29-2D5A-A1DB-8106-AF72FAC1D83F}"/>
              </a:ext>
            </a:extLst>
          </p:cNvPr>
          <p:cNvSpPr/>
          <p:nvPr/>
        </p:nvSpPr>
        <p:spPr>
          <a:xfrm>
            <a:off x="5162550" y="2324100"/>
            <a:ext cx="16954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51EACF-E165-D3F5-33FE-5EC3D216475F}"/>
              </a:ext>
            </a:extLst>
          </p:cNvPr>
          <p:cNvSpPr txBox="1"/>
          <p:nvPr/>
        </p:nvSpPr>
        <p:spPr>
          <a:xfrm>
            <a:off x="5276850" y="2476500"/>
            <a:ext cx="1466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242C"/>
                </a:solidFill>
                <a:latin typeface="Aptos" panose="020B0004020202020204" pitchFamily="34" charset="0"/>
              </a:rPr>
              <a:t>Pilot Launch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9E2706-F7BD-2898-E301-88DBBC375DA9}"/>
              </a:ext>
            </a:extLst>
          </p:cNvPr>
          <p:cNvSpPr/>
          <p:nvPr/>
        </p:nvSpPr>
        <p:spPr>
          <a:xfrm>
            <a:off x="6858000" y="2324100"/>
            <a:ext cx="20764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918851-0C4E-B4DC-D13D-EEAF43443067}"/>
              </a:ext>
            </a:extLst>
          </p:cNvPr>
          <p:cNvSpPr txBox="1"/>
          <p:nvPr/>
        </p:nvSpPr>
        <p:spPr>
          <a:xfrm>
            <a:off x="6972300" y="2476500"/>
            <a:ext cx="1847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>
                <a:solidFill>
                  <a:srgbClr val="667085"/>
                </a:solidFill>
                <a:latin typeface="Aptos" panose="020B0004020202020204" pitchFamily="34" charset="0"/>
              </a:rPr>
              <a:t>$9.5k-$14k</a:t>
            </a:r>
          </a:p>
          <a:p>
            <a:r>
              <a:rPr lang="en-PH" sz="1500">
                <a:solidFill>
                  <a:srgbClr val="667085"/>
                </a:solidFill>
                <a:latin typeface="Aptos" panose="020B0004020202020204" pitchFamily="34" charset="0"/>
              </a:rPr>
              <a:t>AED 35k-51k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4A9F42-8D9C-F428-3EA8-29BF129FFD88}"/>
              </a:ext>
            </a:extLst>
          </p:cNvPr>
          <p:cNvSpPr/>
          <p:nvPr/>
        </p:nvSpPr>
        <p:spPr>
          <a:xfrm>
            <a:off x="8934450" y="2324100"/>
            <a:ext cx="21145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51FFC6-4D3D-5CE4-6877-5198F85EA408}"/>
              </a:ext>
            </a:extLst>
          </p:cNvPr>
          <p:cNvSpPr txBox="1"/>
          <p:nvPr/>
        </p:nvSpPr>
        <p:spPr>
          <a:xfrm>
            <a:off x="9048750" y="2476500"/>
            <a:ext cx="1885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667085"/>
                </a:solidFill>
                <a:latin typeface="Aptos" panose="020B0004020202020204" pitchFamily="34" charset="0"/>
              </a:rPr>
              <a:t>$300-$750/mo</a:t>
            </a:r>
          </a:p>
          <a:p>
            <a:r>
              <a:rPr lang="pt-BR" sz="1500">
                <a:solidFill>
                  <a:srgbClr val="667085"/>
                </a:solidFill>
                <a:latin typeface="Aptos" panose="020B0004020202020204" pitchFamily="34" charset="0"/>
              </a:rPr>
              <a:t>AED 1.1k-2.75k/mo</a:t>
            </a:r>
            <a:endParaRPr lang="en-PH" sz="15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5DB872-3FB2-54C7-A165-62292504FB25}"/>
              </a:ext>
            </a:extLst>
          </p:cNvPr>
          <p:cNvSpPr/>
          <p:nvPr/>
        </p:nvSpPr>
        <p:spPr>
          <a:xfrm>
            <a:off x="5162550" y="3162300"/>
            <a:ext cx="1695450" cy="914400"/>
          </a:xfrm>
          <a:prstGeom prst="rect">
            <a:avLst/>
          </a:prstGeom>
          <a:solidFill>
            <a:srgbClr val="FFF1F3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A77261-173F-BD86-42E6-6CB4D2612CDA}"/>
              </a:ext>
            </a:extLst>
          </p:cNvPr>
          <p:cNvSpPr txBox="1"/>
          <p:nvPr/>
        </p:nvSpPr>
        <p:spPr>
          <a:xfrm>
            <a:off x="5276850" y="3314700"/>
            <a:ext cx="1466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242C"/>
                </a:solidFill>
                <a:latin typeface="Aptos" panose="020B0004020202020204" pitchFamily="34" charset="0"/>
              </a:rPr>
              <a:t>Production Association</a:t>
            </a:r>
          </a:p>
          <a:p>
            <a:r>
              <a:rPr lang="en-PH" sz="1600" b="1">
                <a:solidFill>
                  <a:srgbClr val="20242C"/>
                </a:solidFill>
                <a:latin typeface="Aptos" panose="020B0004020202020204" pitchFamily="34" charset="0"/>
              </a:rPr>
              <a:t>System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1359ED-6E4E-F101-FAC3-5B01C771A90D}"/>
              </a:ext>
            </a:extLst>
          </p:cNvPr>
          <p:cNvSpPr/>
          <p:nvPr/>
        </p:nvSpPr>
        <p:spPr>
          <a:xfrm>
            <a:off x="6858000" y="3162300"/>
            <a:ext cx="2076450" cy="914400"/>
          </a:xfrm>
          <a:prstGeom prst="rect">
            <a:avLst/>
          </a:prstGeom>
          <a:solidFill>
            <a:srgbClr val="FFF1F3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FE9456-2375-1213-B9C1-113E74617FA6}"/>
              </a:ext>
            </a:extLst>
          </p:cNvPr>
          <p:cNvSpPr txBox="1"/>
          <p:nvPr/>
        </p:nvSpPr>
        <p:spPr>
          <a:xfrm>
            <a:off x="6972300" y="3314700"/>
            <a:ext cx="1847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667085"/>
                </a:solidFill>
                <a:latin typeface="Aptos" panose="020B0004020202020204" pitchFamily="34" charset="0"/>
              </a:rPr>
              <a:t>$18k-$28k</a:t>
            </a:r>
          </a:p>
          <a:p>
            <a:r>
              <a:rPr lang="en-PH" sz="1500" b="1">
                <a:solidFill>
                  <a:srgbClr val="667085"/>
                </a:solidFill>
                <a:latin typeface="Aptos" panose="020B0004020202020204" pitchFamily="34" charset="0"/>
              </a:rPr>
              <a:t>AED 66k-103k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E30C7E-701A-9F63-2123-5F4164693360}"/>
              </a:ext>
            </a:extLst>
          </p:cNvPr>
          <p:cNvSpPr/>
          <p:nvPr/>
        </p:nvSpPr>
        <p:spPr>
          <a:xfrm>
            <a:off x="8934450" y="3162300"/>
            <a:ext cx="2114550" cy="914400"/>
          </a:xfrm>
          <a:prstGeom prst="rect">
            <a:avLst/>
          </a:prstGeom>
          <a:solidFill>
            <a:srgbClr val="FFF1F3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90BF0D-07CB-265C-D5B0-3229F0587607}"/>
              </a:ext>
            </a:extLst>
          </p:cNvPr>
          <p:cNvSpPr txBox="1"/>
          <p:nvPr/>
        </p:nvSpPr>
        <p:spPr>
          <a:xfrm>
            <a:off x="9048750" y="3314700"/>
            <a:ext cx="1885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l-PL" sz="1500" b="1">
                <a:solidFill>
                  <a:srgbClr val="667085"/>
                </a:solidFill>
                <a:latin typeface="Aptos" panose="020B0004020202020204" pitchFamily="34" charset="0"/>
              </a:rPr>
              <a:t>$1k-$1.5k/mo</a:t>
            </a:r>
          </a:p>
          <a:p>
            <a:r>
              <a:rPr lang="pl-PL" sz="1500" b="1">
                <a:solidFill>
                  <a:srgbClr val="667085"/>
                </a:solidFill>
                <a:latin typeface="Aptos" panose="020B0004020202020204" pitchFamily="34" charset="0"/>
              </a:rPr>
              <a:t>AED 3.7k-5.5k/mo</a:t>
            </a:r>
            <a:endParaRPr lang="en-PH" sz="1500" b="1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7C1E8A-B85C-B29D-4F56-EB0D0C40E7C3}"/>
              </a:ext>
            </a:extLst>
          </p:cNvPr>
          <p:cNvSpPr/>
          <p:nvPr/>
        </p:nvSpPr>
        <p:spPr>
          <a:xfrm>
            <a:off x="5162550" y="4076700"/>
            <a:ext cx="1695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6CE104-D148-EC9E-4E5B-A0BF5E4AAA1B}"/>
              </a:ext>
            </a:extLst>
          </p:cNvPr>
          <p:cNvSpPr txBox="1"/>
          <p:nvPr/>
        </p:nvSpPr>
        <p:spPr>
          <a:xfrm>
            <a:off x="5276850" y="4229100"/>
            <a:ext cx="1466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242C"/>
                </a:solidFill>
                <a:latin typeface="Aptos" panose="020B0004020202020204" pitchFamily="34" charset="0"/>
              </a:rPr>
              <a:t>Enterprise Federation</a:t>
            </a:r>
          </a:p>
          <a:p>
            <a:r>
              <a:rPr lang="en-PH" sz="1600" b="1">
                <a:solidFill>
                  <a:srgbClr val="20242C"/>
                </a:solidFill>
                <a:latin typeface="Aptos" panose="020B0004020202020204" pitchFamily="34" charset="0"/>
              </a:rPr>
              <a:t>Platform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9486B4-90DD-E728-6266-7E50F0DA73BC}"/>
              </a:ext>
            </a:extLst>
          </p:cNvPr>
          <p:cNvSpPr/>
          <p:nvPr/>
        </p:nvSpPr>
        <p:spPr>
          <a:xfrm>
            <a:off x="6858000" y="4076700"/>
            <a:ext cx="20764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20C461-7C20-D497-668F-E9428D6EE910}"/>
              </a:ext>
            </a:extLst>
          </p:cNvPr>
          <p:cNvSpPr txBox="1"/>
          <p:nvPr/>
        </p:nvSpPr>
        <p:spPr>
          <a:xfrm>
            <a:off x="6972300" y="4229100"/>
            <a:ext cx="18478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>
                <a:solidFill>
                  <a:srgbClr val="667085"/>
                </a:solidFill>
                <a:latin typeface="Aptos" panose="020B0004020202020204" pitchFamily="34" charset="0"/>
              </a:rPr>
              <a:t>$35k-$60k+</a:t>
            </a:r>
          </a:p>
          <a:p>
            <a:r>
              <a:rPr lang="en-PH" sz="1500">
                <a:solidFill>
                  <a:srgbClr val="667085"/>
                </a:solidFill>
                <a:latin typeface="Aptos" panose="020B0004020202020204" pitchFamily="34" charset="0"/>
              </a:rPr>
              <a:t>AED 128.5k-220.4k+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7A8D4C6-8F2E-6D13-9EAD-4CB0DFE8A94E}"/>
              </a:ext>
            </a:extLst>
          </p:cNvPr>
          <p:cNvSpPr/>
          <p:nvPr/>
        </p:nvSpPr>
        <p:spPr>
          <a:xfrm>
            <a:off x="8934450" y="4076700"/>
            <a:ext cx="21145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3E9BE2-EB0B-9642-8D04-DF2BF34642FA}"/>
              </a:ext>
            </a:extLst>
          </p:cNvPr>
          <p:cNvSpPr txBox="1"/>
          <p:nvPr/>
        </p:nvSpPr>
        <p:spPr>
          <a:xfrm>
            <a:off x="9048750" y="4229100"/>
            <a:ext cx="1885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l-PL" sz="1500">
                <a:solidFill>
                  <a:srgbClr val="667085"/>
                </a:solidFill>
                <a:latin typeface="Aptos" panose="020B0004020202020204" pitchFamily="34" charset="0"/>
              </a:rPr>
              <a:t>$2k-$5k+/mo</a:t>
            </a:r>
          </a:p>
          <a:p>
            <a:r>
              <a:rPr lang="pl-PL" sz="1500">
                <a:solidFill>
                  <a:srgbClr val="667085"/>
                </a:solidFill>
                <a:latin typeface="Aptos" panose="020B0004020202020204" pitchFamily="34" charset="0"/>
              </a:rPr>
              <a:t>AED 7.35k-18.35k+/mo</a:t>
            </a:r>
            <a:endParaRPr lang="en-PH" sz="15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E341B8-C2AC-5C6C-EB52-462FE74EC294}"/>
              </a:ext>
            </a:extLst>
          </p:cNvPr>
          <p:cNvSpPr txBox="1"/>
          <p:nvPr/>
        </p:nvSpPr>
        <p:spPr>
          <a:xfrm>
            <a:off x="5162550" y="5124450"/>
            <a:ext cx="58864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667085"/>
                </a:solidFill>
                <a:latin typeface="Aptos" panose="020B0004020202020204" pitchFamily="34" charset="0"/>
              </a:rPr>
              <a:t>Cloud/vendor costs are separate and should be validated before formal quote: approximately $200-$650/month for safer production.</a:t>
            </a:r>
            <a:endParaRPr lang="en-PH" sz="14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4BBEDA8-9B65-931D-798B-24CC2A658DD7}"/>
              </a:ext>
            </a:extLst>
          </p:cNvPr>
          <p:cNvSpPr/>
          <p:nvPr/>
        </p:nvSpPr>
        <p:spPr>
          <a:xfrm>
            <a:off x="838200" y="5791200"/>
            <a:ext cx="10458450" cy="495300"/>
          </a:xfrm>
          <a:prstGeom prst="roundRect">
            <a:avLst/>
          </a:prstGeom>
          <a:solidFill>
            <a:srgbClr val="AA14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F407C7-882F-F84E-986F-5AA0E7DACE65}"/>
              </a:ext>
            </a:extLst>
          </p:cNvPr>
          <p:cNvSpPr txBox="1"/>
          <p:nvPr/>
        </p:nvSpPr>
        <p:spPr>
          <a:xfrm>
            <a:off x="1123950" y="5943600"/>
            <a:ext cx="933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Next step: confirm workshop stakeholders and the first rollout course.</a:t>
            </a:r>
            <a:endParaRPr lang="en-PH" sz="2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97EC4F-A873-572E-E027-1555D59A0A3B}"/>
              </a:ext>
            </a:extLst>
          </p:cNvPr>
          <p:cNvSpPr/>
          <p:nvPr/>
        </p:nvSpPr>
        <p:spPr>
          <a:xfrm>
            <a:off x="609600" y="6419850"/>
            <a:ext cx="10972800" cy="11430"/>
          </a:xfrm>
          <a:prstGeom prst="rect">
            <a:avLst/>
          </a:prstGeom>
          <a:solidFill>
            <a:srgbClr val="E6E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7E3B8D-0907-3A3D-DFF9-B20CB817B7C0}"/>
              </a:ext>
            </a:extLst>
          </p:cNvPr>
          <p:cNvSpPr txBox="1"/>
          <p:nvPr/>
        </p:nvSpPr>
        <p:spPr>
          <a:xfrm>
            <a:off x="609600" y="653415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Badminton Accreditation Management System | UAE client discussion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47E112-09A3-F309-EE13-B62D188D6787}"/>
              </a:ext>
            </a:extLst>
          </p:cNvPr>
          <p:cNvSpPr txBox="1"/>
          <p:nvPr/>
        </p:nvSpPr>
        <p:spPr>
          <a:xfrm>
            <a:off x="11296650" y="6534150"/>
            <a:ext cx="285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900">
                <a:solidFill>
                  <a:srgbClr val="7A8495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818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1187</Words>
  <Application>Microsoft Office PowerPoint</Application>
  <PresentationFormat>Widescreen</PresentationFormat>
  <Paragraphs>199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Jivenlans Tabien</dc:creator>
  <cp:lastModifiedBy>Jivenlans Tabien</cp:lastModifiedBy>
  <cp:revision>2</cp:revision>
  <dcterms:created xsi:type="dcterms:W3CDTF">2026-08-31T08:52:29Z</dcterms:created>
  <dcterms:modified xsi:type="dcterms:W3CDTF">2026-08-31T09:02:52Z</dcterms:modified>
</cp:coreProperties>
</file>